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DAAD6-95EB-4825-9BB4-B4CFDC7E6851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F4878-2B22-45A5-A294-A3117DCF2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7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FCC6D-31E7-44F7-92CC-1C55C42D40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15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6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0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4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9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2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4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5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96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310CC-AECB-43BB-8287-0CE2070894B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E6A61-4E8D-45F2-9E34-8A9F022A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61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Function%20-%201/main.c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Sum%201/001.c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Function%20-%201/main.c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no%20argument%20no%20return%20value/main.c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no%20argument%20no%20return%20value/main.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arguments%20and%20no%20return%20value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arguments%20and%20no%20return%20value/main.c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no%20argument%20return%20value/main.c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no%20argument%20return%20value/main.c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arguments%20and%20return%20value/main.c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hyperlink" Target="arguments%20and%20return%20value/main.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Function?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1" y="1610435"/>
            <a:ext cx="10195031" cy="5076967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 function is a self-contained program segment that caries out some specific, well-define task.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Every C program consists of one(at least) or more functions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One of these function must be called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main()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Execution of a program always begin by carrying out the instructions in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main()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36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73077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Form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7048" y="971552"/>
            <a:ext cx="5513849" cy="574357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#include &lt;header file name&gt;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// function prototype here</a:t>
            </a:r>
          </a:p>
          <a:p>
            <a:pPr marL="0" indent="0">
              <a:spcBef>
                <a:spcPts val="0"/>
              </a:spcBef>
              <a:buNone/>
            </a:pPr>
            <a:endParaRPr lang="en-US" sz="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/*…………*/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sz="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return-type f1(parameter list)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/*………*/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sz="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return-type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f2(parameter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list)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/*………*/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return-type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fn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(parameter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list)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/*………*/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986088" y="1657350"/>
            <a:ext cx="11887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64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example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1" y="1610435"/>
            <a:ext cx="10195031" cy="5076967"/>
          </a:xfrm>
        </p:spPr>
        <p:txBody>
          <a:bodyPr>
            <a:noAutofit/>
          </a:bodyPr>
          <a:lstStyle/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706" t="17773" r="22950" b="17383"/>
          <a:stretch/>
        </p:blipFill>
        <p:spPr>
          <a:xfrm>
            <a:off x="1885944" y="1328739"/>
            <a:ext cx="8155236" cy="5372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4700" b="79101"/>
          <a:stretch/>
        </p:blipFill>
        <p:spPr>
          <a:xfrm>
            <a:off x="5601065" y="1550938"/>
            <a:ext cx="5610226" cy="10094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849192" y="5872163"/>
            <a:ext cx="2147190" cy="700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hlinkClick r:id="rId4" action="ppaction://hlinkfile"/>
              </a:rPr>
              <a:t>Program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4943471" y="2343149"/>
            <a:ext cx="2757487" cy="3021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Function Prototype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447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General Form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00138" y="1814513"/>
            <a:ext cx="9615487" cy="23431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return-type fun-name(</a:t>
            </a:r>
            <a:r>
              <a:rPr 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type parameter1, type parameter2</a:t>
            </a:r>
            <a:r>
              <a:rPr lang="en-US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n-US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{</a:t>
            </a:r>
          </a:p>
          <a:p>
            <a:r>
              <a:rPr lang="en-US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	/*……function body…*/</a:t>
            </a:r>
          </a:p>
          <a:p>
            <a:r>
              <a:rPr lang="en-US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2857" t="61405" r="31075" b="17383"/>
          <a:stretch/>
        </p:blipFill>
        <p:spPr>
          <a:xfrm>
            <a:off x="3717561" y="4571999"/>
            <a:ext cx="8112834" cy="21002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665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General Form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00138" y="1814513"/>
            <a:ext cx="8201025" cy="2000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return-type fun-name(</a:t>
            </a:r>
            <a: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</a:rPr>
              <a:t>type parameter1, type parameter2</a:t>
            </a:r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{</a:t>
            </a:r>
          </a:p>
          <a:p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	/*……function body…*/</a:t>
            </a:r>
          </a:p>
          <a:p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}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674" y="3390899"/>
            <a:ext cx="5624513" cy="318931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954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Prototype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15138" y="4213108"/>
            <a:ext cx="8914274" cy="7160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3" charset="2"/>
              <a:buNone/>
            </a:pPr>
            <a:r>
              <a:rPr lang="en-US" sz="28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return-type fun-name(</a:t>
            </a:r>
            <a:r>
              <a:rPr lang="en-US" sz="20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type parameter1, type parameter2</a:t>
            </a:r>
            <a:r>
              <a:rPr lang="en-US" sz="28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);</a:t>
            </a:r>
          </a:p>
        </p:txBody>
      </p:sp>
      <p:sp>
        <p:nvSpPr>
          <p:cNvPr id="6" name="Rectangle 5"/>
          <p:cNvSpPr/>
          <p:nvPr/>
        </p:nvSpPr>
        <p:spPr>
          <a:xfrm>
            <a:off x="2671763" y="1741050"/>
            <a:ext cx="8201025" cy="2000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return-type fun-name(</a:t>
            </a:r>
            <a: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</a:rPr>
              <a:t>type parameter1, type parameter2</a:t>
            </a:r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{</a:t>
            </a:r>
          </a:p>
          <a:p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	/*……function body…*/</a:t>
            </a:r>
          </a:p>
          <a:p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0606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Prototype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2857" t="61405" r="31075" b="17383"/>
          <a:stretch/>
        </p:blipFill>
        <p:spPr>
          <a:xfrm>
            <a:off x="1260111" y="1571624"/>
            <a:ext cx="8112834" cy="21002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1706" t="27603" r="55605" b="63774"/>
          <a:stretch/>
        </p:blipFill>
        <p:spPr>
          <a:xfrm>
            <a:off x="6615106" y="4357688"/>
            <a:ext cx="3343281" cy="714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345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Prototype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706" t="17773" r="22950" b="17383"/>
          <a:stretch/>
        </p:blipFill>
        <p:spPr>
          <a:xfrm>
            <a:off x="1885944" y="1328739"/>
            <a:ext cx="8155236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5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Prototype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026" y="1747837"/>
            <a:ext cx="5624513" cy="318931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869" y="5415751"/>
            <a:ext cx="6222262" cy="5849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9149105" y="1819274"/>
            <a:ext cx="2147190" cy="700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hlinkClick r:id="rId4" action="ppaction://hlinkfile"/>
              </a:rPr>
              <a:t>Program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436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of Function Prototype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1" y="1610435"/>
            <a:ext cx="10195031" cy="507696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Declare following attributes associated with a function: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Its return type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 name of its parameters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 type of its parameters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 function name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606" y="5330026"/>
            <a:ext cx="6222262" cy="5849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073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Prototype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1" y="1610435"/>
            <a:ext cx="10195031" cy="5076967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 function prototype declares a function before it is used and prior to its definition.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Compiler needs to know this information in order for it to properly execute </a:t>
            </a:r>
            <a:r>
              <a:rPr lang="en-US" sz="2800" dirty="0" smtClean="0">
                <a:solidFill>
                  <a:srgbClr val="FF0000"/>
                </a:solidFill>
              </a:rPr>
              <a:t>a call to function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main() does not need prototype.</a:t>
            </a: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74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638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Argument and Parameter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399" y="981077"/>
            <a:ext cx="4392339" cy="57340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9574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Argument </a:t>
            </a:r>
            <a:r>
              <a:rPr lang="en-US" sz="54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Parameter</a:t>
            </a:r>
            <a:endParaRPr lang="en-US" sz="54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1" y="1610435"/>
            <a:ext cx="10195031" cy="5076967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 function’s argument is </a:t>
            </a:r>
            <a:r>
              <a:rPr lang="en-US" sz="2800" dirty="0" smtClean="0">
                <a:solidFill>
                  <a:srgbClr val="FF0000"/>
                </a:solidFill>
              </a:rPr>
              <a:t>a value that is passed to the function when the function is called.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 function can have zero to several argument.</a:t>
            </a:r>
          </a:p>
          <a:p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782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Argument and </a:t>
            </a: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1" y="1610436"/>
            <a:ext cx="10195031" cy="4718928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For function to be able to take arguments, special variables to receive argument values must be declared, called parameter of the function.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 parameters are </a:t>
            </a:r>
            <a:r>
              <a:rPr lang="en-US" sz="2800" dirty="0" smtClean="0">
                <a:solidFill>
                  <a:srgbClr val="FF0000"/>
                </a:solidFill>
              </a:rPr>
              <a:t>declared between the parentheses that follow the function’s name during function definition.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2800" dirty="0" smtClean="0">
                <a:solidFill>
                  <a:schemeClr val="tx1"/>
                </a:solidFill>
              </a:rPr>
              <a:t>Functions that take arguments are called parameterized function.</a:t>
            </a:r>
            <a:endParaRPr lang="en-US" sz="2800" dirty="0">
              <a:solidFill>
                <a:schemeClr val="tx1"/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577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089" y="1267703"/>
            <a:ext cx="5300661" cy="534264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Argument and Parameter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15184" y="1267703"/>
            <a:ext cx="2757487" cy="3021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Function Prototype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3171825" y="1267703"/>
            <a:ext cx="3557588" cy="3896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893467" y="3461849"/>
            <a:ext cx="2321717" cy="3896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581897" y="3505613"/>
            <a:ext cx="1889592" cy="3458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Function Call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9691685" y="3505613"/>
            <a:ext cx="1889592" cy="3458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Arguments</a:t>
            </a:r>
            <a:endParaRPr lang="en-US" sz="2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5493539" y="3792858"/>
            <a:ext cx="13716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086601" y="4729580"/>
            <a:ext cx="2228850" cy="3458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Parameter</a:t>
            </a:r>
            <a:endParaRPr lang="en-US" sz="20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4488635" y="4988249"/>
            <a:ext cx="173736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1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</a:t>
            </a:r>
            <a:r>
              <a:rPr lang="en-US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</a:t>
            </a: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Definition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438" y="1553285"/>
            <a:ext cx="10195031" cy="5076967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 declaration specifies the type of an object.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 definition causes storage for an object to be created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 function-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prototype is declaration</a:t>
            </a:r>
          </a:p>
          <a:p>
            <a:pPr marL="1314450" lvl="2" indent="-400050">
              <a:spcBef>
                <a:spcPts val="1200"/>
              </a:spcBef>
              <a:spcAft>
                <a:spcPts val="1200"/>
              </a:spcAft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 function itself, which contain the body of the   function is a definition</a:t>
            </a:r>
            <a:endParaRPr lang="en-US" sz="2800" i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00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Call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1" y="1610435"/>
            <a:ext cx="10195031" cy="5076967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can </a:t>
            </a:r>
            <a:r>
              <a:rPr lang="en-US" sz="2800" dirty="0" smtClean="0">
                <a:solidFill>
                  <a:srgbClr val="FF0000"/>
                </a:solidFill>
              </a:rPr>
              <a:t>accessed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a function by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specifying its name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followed by a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list of arguments enclosed in parentheses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and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separated by commas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If the function call does not require any arguments, an empty pair of parentheses must follow the name of the function. </a:t>
            </a:r>
          </a:p>
          <a:p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75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Call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1" y="1610435"/>
            <a:ext cx="10195031" cy="5076967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 function will carry out tis intended action whenever it is accessed (called) from some other portion of the program.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Once the function has carried out its intended action (end of that function is reached), control will be returned to the point from which the function was accessed.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Traditionally, main function is not called by any other function, but there is no technical restriction.</a:t>
            </a:r>
          </a:p>
        </p:txBody>
      </p:sp>
    </p:spTree>
    <p:extLst>
      <p:ext uri="{BB962C8B-B14F-4D97-AF65-F5344CB8AC3E}">
        <p14:creationId xmlns:p14="http://schemas.microsoft.com/office/powerpoint/2010/main" val="280175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9485" y="252635"/>
            <a:ext cx="4610018" cy="776065"/>
          </a:xfrm>
          <a:ln w="38100">
            <a:solidFill>
              <a:schemeClr val="accent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en-US" sz="4400" b="1" dirty="0" smtClean="0"/>
              <a:t>The function call</a:t>
            </a:r>
            <a:endParaRPr lang="en-US" sz="4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44" y="0"/>
            <a:ext cx="5858731" cy="685800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1000144" y="1585913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smtClean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1624031" y="2209800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000144" y="5362575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6</a:t>
            </a:r>
            <a:endParaRPr lang="en-US" sz="1600" dirty="0"/>
          </a:p>
        </p:txBody>
      </p:sp>
      <p:sp>
        <p:nvSpPr>
          <p:cNvPr id="9" name="Right Arrow 8"/>
          <p:cNvSpPr/>
          <p:nvPr/>
        </p:nvSpPr>
        <p:spPr>
          <a:xfrm>
            <a:off x="1662131" y="3831433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5</a:t>
            </a:r>
            <a:endParaRPr lang="en-US" sz="1600" dirty="0"/>
          </a:p>
        </p:txBody>
      </p:sp>
      <p:sp>
        <p:nvSpPr>
          <p:cNvPr id="10" name="Right Arrow 9"/>
          <p:cNvSpPr/>
          <p:nvPr/>
        </p:nvSpPr>
        <p:spPr>
          <a:xfrm>
            <a:off x="1624032" y="2828924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3</a:t>
            </a:r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1621653" y="3171826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4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1609744" y="5984081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7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964425" y="6284119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8</a:t>
            </a:r>
            <a:endParaRPr lang="en-US" sz="1600" dirty="0"/>
          </a:p>
        </p:txBody>
      </p:sp>
      <p:sp>
        <p:nvSpPr>
          <p:cNvPr id="14" name="Curved Right Arrow 13"/>
          <p:cNvSpPr/>
          <p:nvPr/>
        </p:nvSpPr>
        <p:spPr>
          <a:xfrm>
            <a:off x="1035863" y="3873103"/>
            <a:ext cx="633411" cy="1807367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Right Arrow 14"/>
          <p:cNvSpPr/>
          <p:nvPr/>
        </p:nvSpPr>
        <p:spPr>
          <a:xfrm rot="11135859">
            <a:off x="1712640" y="4174581"/>
            <a:ext cx="724199" cy="2486963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1669274" y="4445605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9</a:t>
            </a:r>
            <a:endParaRPr lang="en-US" sz="1600" dirty="0"/>
          </a:p>
        </p:txBody>
      </p:sp>
      <p:sp>
        <p:nvSpPr>
          <p:cNvPr id="17" name="Right Arrow 16"/>
          <p:cNvSpPr/>
          <p:nvPr/>
        </p:nvSpPr>
        <p:spPr>
          <a:xfrm>
            <a:off x="714393" y="4758926"/>
            <a:ext cx="626269" cy="31789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10</a:t>
            </a:r>
            <a:endParaRPr lang="en-US" sz="1050" dirty="0"/>
          </a:p>
        </p:txBody>
      </p:sp>
      <p:sp>
        <p:nvSpPr>
          <p:cNvPr id="18" name="Rounded Rectangle 17"/>
          <p:cNvSpPr/>
          <p:nvPr/>
        </p:nvSpPr>
        <p:spPr>
          <a:xfrm>
            <a:off x="5543569" y="3951496"/>
            <a:ext cx="2143125" cy="6441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Finish!</a:t>
            </a:r>
            <a:endParaRPr lang="en-US" dirty="0"/>
          </a:p>
        </p:txBody>
      </p:sp>
      <p:sp>
        <p:nvSpPr>
          <p:cNvPr id="21" name="Oval Callout 20"/>
          <p:cNvSpPr/>
          <p:nvPr/>
        </p:nvSpPr>
        <p:spPr>
          <a:xfrm>
            <a:off x="0" y="3048030"/>
            <a:ext cx="1603793" cy="795335"/>
          </a:xfrm>
          <a:prstGeom prst="wedgeEllipseCallout">
            <a:avLst>
              <a:gd name="adj1" fmla="val 57830"/>
              <a:gd name="adj2" fmla="val 569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Function Call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5259115" y="5276552"/>
            <a:ext cx="4385379" cy="4720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 the called  function execution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1997887" y="6450224"/>
            <a:ext cx="2131201" cy="4720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End of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56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9485" y="252635"/>
            <a:ext cx="4610018" cy="776065"/>
          </a:xfrm>
          <a:ln w="38100">
            <a:solidFill>
              <a:schemeClr val="accent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en-US" sz="4400" b="1" dirty="0" smtClean="0">
                <a:hlinkClick r:id="rId2" action="ppaction://hlinkfile"/>
              </a:rPr>
              <a:t>The function call</a:t>
            </a:r>
            <a:endParaRPr lang="en-US" sz="4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44" y="0"/>
            <a:ext cx="5858731" cy="685800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1000144" y="1585913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smtClean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1624031" y="2209800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000144" y="5362575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6</a:t>
            </a:r>
            <a:endParaRPr lang="en-US" sz="1600" dirty="0"/>
          </a:p>
        </p:txBody>
      </p:sp>
      <p:sp>
        <p:nvSpPr>
          <p:cNvPr id="9" name="Right Arrow 8"/>
          <p:cNvSpPr/>
          <p:nvPr/>
        </p:nvSpPr>
        <p:spPr>
          <a:xfrm>
            <a:off x="1662131" y="3831433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5</a:t>
            </a:r>
            <a:endParaRPr lang="en-US" sz="1600" dirty="0"/>
          </a:p>
        </p:txBody>
      </p:sp>
      <p:sp>
        <p:nvSpPr>
          <p:cNvPr id="10" name="Right Arrow 9"/>
          <p:cNvSpPr/>
          <p:nvPr/>
        </p:nvSpPr>
        <p:spPr>
          <a:xfrm>
            <a:off x="1624032" y="2828924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3</a:t>
            </a:r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1621653" y="3171826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4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1609744" y="5984081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7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964425" y="6284119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8</a:t>
            </a:r>
            <a:endParaRPr lang="en-US" sz="1600" dirty="0"/>
          </a:p>
        </p:txBody>
      </p:sp>
      <p:sp>
        <p:nvSpPr>
          <p:cNvPr id="14" name="Curved Right Arrow 13"/>
          <p:cNvSpPr/>
          <p:nvPr/>
        </p:nvSpPr>
        <p:spPr>
          <a:xfrm>
            <a:off x="1035863" y="3873103"/>
            <a:ext cx="633411" cy="1807367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Right Arrow 14"/>
          <p:cNvSpPr/>
          <p:nvPr/>
        </p:nvSpPr>
        <p:spPr>
          <a:xfrm rot="11135859">
            <a:off x="1712640" y="4174581"/>
            <a:ext cx="724199" cy="2486963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1669274" y="4445605"/>
            <a:ext cx="328613" cy="3000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9</a:t>
            </a:r>
            <a:endParaRPr lang="en-US" sz="1600" dirty="0"/>
          </a:p>
        </p:txBody>
      </p:sp>
      <p:sp>
        <p:nvSpPr>
          <p:cNvPr id="17" name="Right Arrow 16"/>
          <p:cNvSpPr/>
          <p:nvPr/>
        </p:nvSpPr>
        <p:spPr>
          <a:xfrm>
            <a:off x="714393" y="4758926"/>
            <a:ext cx="626269" cy="31789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10</a:t>
            </a:r>
            <a:endParaRPr lang="en-US" sz="1050" dirty="0"/>
          </a:p>
        </p:txBody>
      </p:sp>
      <p:sp>
        <p:nvSpPr>
          <p:cNvPr id="18" name="Rounded Rectangle 17"/>
          <p:cNvSpPr/>
          <p:nvPr/>
        </p:nvSpPr>
        <p:spPr>
          <a:xfrm>
            <a:off x="5543569" y="3951496"/>
            <a:ext cx="2143125" cy="6441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Finish!</a:t>
            </a:r>
            <a:endParaRPr lang="en-US" dirty="0"/>
          </a:p>
        </p:txBody>
      </p:sp>
      <p:sp>
        <p:nvSpPr>
          <p:cNvPr id="21" name="Oval Callout 20"/>
          <p:cNvSpPr/>
          <p:nvPr/>
        </p:nvSpPr>
        <p:spPr>
          <a:xfrm>
            <a:off x="0" y="3048030"/>
            <a:ext cx="1603793" cy="795335"/>
          </a:xfrm>
          <a:prstGeom prst="wedgeEllipseCallout">
            <a:avLst>
              <a:gd name="adj1" fmla="val 57830"/>
              <a:gd name="adj2" fmla="val 569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Function Call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5259115" y="5276552"/>
            <a:ext cx="4385379" cy="4720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 the called  function execution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1997887" y="6450224"/>
            <a:ext cx="2131201" cy="4720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End of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41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6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9500"/>
                            </p:stCondLst>
                            <p:childTnLst>
                              <p:par>
                                <p:cTn id="42" presetID="17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6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8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9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000"/>
                            </p:stCondLst>
                            <p:childTnLst>
                              <p:par>
                                <p:cTn id="65" presetID="17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7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9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Call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1" y="1610435"/>
            <a:ext cx="10195031" cy="5076967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3200" dirty="0"/>
              <a:t>There are </a:t>
            </a:r>
            <a:r>
              <a:rPr lang="en-US" sz="3200" dirty="0" smtClean="0"/>
              <a:t>four </a:t>
            </a:r>
            <a:r>
              <a:rPr lang="en-US" sz="3200" dirty="0"/>
              <a:t>types of functions and they are:</a:t>
            </a:r>
          </a:p>
          <a:p>
            <a:pPr marL="1198563" lvl="3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/>
              <a:t>Functions with no arguments and no return values.</a:t>
            </a:r>
          </a:p>
          <a:p>
            <a:pPr marL="1198563" lvl="3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/>
              <a:t>Functions with arguments and no return values.</a:t>
            </a:r>
          </a:p>
          <a:p>
            <a:pPr marL="1198563" lvl="3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/>
              <a:t>Functions with no arguments and return values</a:t>
            </a:r>
            <a:r>
              <a:rPr lang="en-US" sz="2600" dirty="0" smtClean="0"/>
              <a:t>.</a:t>
            </a:r>
          </a:p>
          <a:p>
            <a:pPr marL="1198563" lvl="3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 smtClean="0"/>
              <a:t>Functions </a:t>
            </a:r>
            <a:r>
              <a:rPr lang="en-US" sz="2600" dirty="0"/>
              <a:t>with arguments and return values.</a:t>
            </a:r>
          </a:p>
          <a:p>
            <a:pPr marL="1198563" lvl="3" indent="-514350">
              <a:lnSpc>
                <a:spcPct val="150000"/>
              </a:lnSpc>
              <a:buFont typeface="+mj-lt"/>
              <a:buAutoNum type="arabicPeriod"/>
            </a:pPr>
            <a:endParaRPr lang="en-US" sz="2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72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711" y="736065"/>
            <a:ext cx="7053264" cy="612193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hlinkClick r:id="rId3" action="ppaction://hlinkfile"/>
              </a:rPr>
              <a:t>Functions with no arguments and no return values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8375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hlinkClick r:id="rId2" action="ppaction://hlinkfile"/>
              </a:rPr>
              <a:t>Functions with no arguments and no return values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8275" r="10151" b="5159"/>
          <a:stretch/>
        </p:blipFill>
        <p:spPr>
          <a:xfrm>
            <a:off x="542925" y="2120094"/>
            <a:ext cx="3614737" cy="3151993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777" r="34425" b="9028"/>
          <a:stretch/>
        </p:blipFill>
        <p:spPr>
          <a:xfrm>
            <a:off x="7693960" y="2120094"/>
            <a:ext cx="4140853" cy="3151993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ight Arrow 7"/>
          <p:cNvSpPr/>
          <p:nvPr/>
        </p:nvSpPr>
        <p:spPr>
          <a:xfrm rot="20710141">
            <a:off x="3526383" y="2743790"/>
            <a:ext cx="5715481" cy="54864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 argument passing</a:t>
            </a:r>
          </a:p>
        </p:txBody>
      </p:sp>
      <p:sp>
        <p:nvSpPr>
          <p:cNvPr id="11" name="Left Arrow 10"/>
          <p:cNvSpPr/>
          <p:nvPr/>
        </p:nvSpPr>
        <p:spPr>
          <a:xfrm rot="344153">
            <a:off x="3952043" y="4100111"/>
            <a:ext cx="3757203" cy="548640"/>
          </a:xfrm>
          <a:prstGeom prst="leftArrow">
            <a:avLst/>
          </a:prstGeom>
          <a:solidFill>
            <a:schemeClr val="bg1">
              <a:lumMod val="85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         No return value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 rot="20710141">
            <a:off x="3430057" y="2514250"/>
            <a:ext cx="4264725" cy="548640"/>
          </a:xfrm>
          <a:prstGeom prst="righ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Control Pass</a:t>
            </a:r>
            <a:endParaRPr lang="en-US" dirty="0"/>
          </a:p>
        </p:txBody>
      </p:sp>
      <p:sp>
        <p:nvSpPr>
          <p:cNvPr id="15" name="Left Arrow 14"/>
          <p:cNvSpPr/>
          <p:nvPr/>
        </p:nvSpPr>
        <p:spPr>
          <a:xfrm rot="313246">
            <a:off x="1583535" y="4481145"/>
            <a:ext cx="6314860" cy="548640"/>
          </a:xfrm>
          <a:prstGeom prst="lef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         Control </a:t>
            </a:r>
            <a:r>
              <a:rPr lang="en-US" dirty="0"/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655825"/>
            <a:ext cx="2344653" cy="51435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Calling Function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8810625" y="5608589"/>
            <a:ext cx="2344653" cy="51435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Called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78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hlinkClick r:id="rId2" action="ppaction://hlinkfile"/>
              </a:rPr>
              <a:t>Functions </a:t>
            </a:r>
            <a:r>
              <a:rPr lang="en-US" sz="3200" b="1" dirty="0" smtClean="0">
                <a:hlinkClick r:id="rId2" action="ppaction://hlinkfile"/>
              </a:rPr>
              <a:t>with </a:t>
            </a:r>
            <a:r>
              <a:rPr lang="en-US" sz="3200" b="1" dirty="0">
                <a:hlinkClick r:id="rId2" action="ppaction://hlinkfile"/>
              </a:rPr>
              <a:t>arguments and no return values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958221"/>
            <a:ext cx="6591300" cy="571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1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202" y="1269243"/>
            <a:ext cx="4714180" cy="3874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67" y="1269242"/>
            <a:ext cx="4851694" cy="38742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hlinkClick r:id="rId4" action="ppaction://hlinkfile"/>
              </a:rPr>
              <a:t>Functions </a:t>
            </a:r>
            <a:r>
              <a:rPr lang="en-US" sz="3200" b="1" dirty="0" smtClean="0">
                <a:hlinkClick r:id="rId4" action="ppaction://hlinkfile"/>
              </a:rPr>
              <a:t>with </a:t>
            </a:r>
            <a:r>
              <a:rPr lang="en-US" sz="3200" b="1" dirty="0">
                <a:hlinkClick r:id="rId4" action="ppaction://hlinkfile"/>
              </a:rPr>
              <a:t>arguments and no return values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ight Arrow 7"/>
          <p:cNvSpPr/>
          <p:nvPr/>
        </p:nvSpPr>
        <p:spPr>
          <a:xfrm rot="20589527">
            <a:off x="2556190" y="2522915"/>
            <a:ext cx="6267563" cy="639531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	argument passing (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dirty="0" err="1" smtClean="0"/>
              <a:t>,</a:t>
            </a:r>
            <a:r>
              <a:rPr lang="en-US" dirty="0" err="1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Left Arrow 10"/>
          <p:cNvSpPr/>
          <p:nvPr/>
        </p:nvSpPr>
        <p:spPr>
          <a:xfrm rot="173926">
            <a:off x="3952043" y="4100111"/>
            <a:ext cx="3757203" cy="548640"/>
          </a:xfrm>
          <a:prstGeom prst="leftArrow">
            <a:avLst/>
          </a:prstGeom>
          <a:solidFill>
            <a:schemeClr val="bg1">
              <a:lumMod val="85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         No return value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 rot="20443965">
            <a:off x="1341032" y="2366244"/>
            <a:ext cx="6113499" cy="54864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		Control Pass</a:t>
            </a:r>
            <a:endParaRPr lang="en-US" dirty="0"/>
          </a:p>
        </p:txBody>
      </p:sp>
      <p:sp>
        <p:nvSpPr>
          <p:cNvPr id="15" name="Left Arrow 14"/>
          <p:cNvSpPr/>
          <p:nvPr/>
        </p:nvSpPr>
        <p:spPr>
          <a:xfrm rot="194379">
            <a:off x="1083463" y="4395417"/>
            <a:ext cx="6314860" cy="548640"/>
          </a:xfrm>
          <a:prstGeom prst="lef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           		 Control </a:t>
            </a:r>
            <a:r>
              <a:rPr lang="en-US" dirty="0"/>
              <a:t>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7317" y="5655825"/>
            <a:ext cx="2344653" cy="51435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Calling Function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8896353" y="5608589"/>
            <a:ext cx="2344653" cy="51435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Called Function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686800" y="1371600"/>
            <a:ext cx="2028825" cy="5547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5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5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801351" y="187381"/>
            <a:ext cx="10195031" cy="10818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 smtClean="0">
                <a:hlinkClick r:id="rId2" action="ppaction://hlinkfile"/>
              </a:rPr>
              <a:t>Functions with no arguments and return values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37" y="728311"/>
            <a:ext cx="6499086" cy="61296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084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702" y="1269240"/>
            <a:ext cx="4693680" cy="39291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31" y="1222676"/>
            <a:ext cx="4865462" cy="39351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ight Arrow 7"/>
          <p:cNvSpPr/>
          <p:nvPr/>
        </p:nvSpPr>
        <p:spPr>
          <a:xfrm rot="20589527">
            <a:off x="3200818" y="2011893"/>
            <a:ext cx="5760720" cy="576136"/>
          </a:xfrm>
          <a:prstGeom prst="rightArrow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	no argument passing</a:t>
            </a:r>
            <a:endParaRPr lang="en-US" dirty="0"/>
          </a:p>
        </p:txBody>
      </p:sp>
      <p:sp>
        <p:nvSpPr>
          <p:cNvPr id="11" name="Left Arrow 10"/>
          <p:cNvSpPr/>
          <p:nvPr/>
        </p:nvSpPr>
        <p:spPr>
          <a:xfrm rot="742304">
            <a:off x="1805994" y="3675876"/>
            <a:ext cx="6341326" cy="548640"/>
          </a:xfrm>
          <a:prstGeom prst="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         return value r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 rot="20515204">
            <a:off x="2189716" y="1920418"/>
            <a:ext cx="5303520" cy="54864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	Control Pass</a:t>
            </a:r>
            <a:endParaRPr lang="en-US" dirty="0"/>
          </a:p>
        </p:txBody>
      </p:sp>
      <p:sp>
        <p:nvSpPr>
          <p:cNvPr id="15" name="Left Arrow 14"/>
          <p:cNvSpPr/>
          <p:nvPr/>
        </p:nvSpPr>
        <p:spPr>
          <a:xfrm rot="500796">
            <a:off x="1003153" y="3973036"/>
            <a:ext cx="7040880" cy="548640"/>
          </a:xfrm>
          <a:prstGeom prst="lef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           		        Control </a:t>
            </a:r>
            <a:r>
              <a:rPr lang="en-US" dirty="0"/>
              <a:t>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7317" y="5655825"/>
            <a:ext cx="2344653" cy="51435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Calling Function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8896353" y="5608589"/>
            <a:ext cx="2344653" cy="51435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Called Function</a:t>
            </a:r>
            <a:endParaRPr lang="en-US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801351" y="187381"/>
            <a:ext cx="10195031" cy="10818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 smtClean="0">
                <a:hlinkClick r:id="rId4" action="ppaction://hlinkfile"/>
              </a:rPr>
              <a:t>Functions with no arguments and return values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080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562" y="688600"/>
            <a:ext cx="6526213" cy="61694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01351" y="115942"/>
            <a:ext cx="10195031" cy="75559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hlinkClick r:id="rId3" action="ppaction://hlinkfile"/>
              </a:rPr>
              <a:t>Functions </a:t>
            </a:r>
            <a:r>
              <a:rPr lang="en-US" sz="3200" b="1" dirty="0" smtClean="0">
                <a:hlinkClick r:id="rId3" action="ppaction://hlinkfile"/>
              </a:rPr>
              <a:t>with </a:t>
            </a:r>
            <a:r>
              <a:rPr lang="en-US" sz="3200" b="1" dirty="0">
                <a:hlinkClick r:id="rId3" action="ppaction://hlinkfile"/>
              </a:rPr>
              <a:t>arguments and </a:t>
            </a:r>
            <a:r>
              <a:rPr lang="en-US" sz="3200" b="1" dirty="0" smtClean="0">
                <a:hlinkClick r:id="rId3" action="ppaction://hlinkfile"/>
              </a:rPr>
              <a:t>return </a:t>
            </a:r>
            <a:r>
              <a:rPr lang="en-US" sz="3200" b="1" dirty="0">
                <a:hlinkClick r:id="rId3" action="ppaction://hlinkfile"/>
              </a:rPr>
              <a:t>values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780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011" y="1283530"/>
            <a:ext cx="4718657" cy="3914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88" y="1283530"/>
            <a:ext cx="4850205" cy="38742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ight Arrow 7"/>
          <p:cNvSpPr/>
          <p:nvPr/>
        </p:nvSpPr>
        <p:spPr>
          <a:xfrm rot="20589527">
            <a:off x="3665871" y="2422073"/>
            <a:ext cx="5394960" cy="576136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	argument passing (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dirty="0" err="1" smtClean="0"/>
              <a:t>,</a:t>
            </a:r>
            <a:r>
              <a:rPr lang="en-US" dirty="0" err="1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Left Arrow 10"/>
          <p:cNvSpPr/>
          <p:nvPr/>
        </p:nvSpPr>
        <p:spPr>
          <a:xfrm rot="340862">
            <a:off x="2196752" y="3750079"/>
            <a:ext cx="6018932" cy="548640"/>
          </a:xfrm>
          <a:prstGeom prst="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         return value r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 rot="20515204">
            <a:off x="2170915" y="2349248"/>
            <a:ext cx="5486400" cy="54864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	Control Pass</a:t>
            </a:r>
            <a:endParaRPr lang="en-US" dirty="0"/>
          </a:p>
        </p:txBody>
      </p:sp>
      <p:sp>
        <p:nvSpPr>
          <p:cNvPr id="15" name="Left Arrow 14"/>
          <p:cNvSpPr/>
          <p:nvPr/>
        </p:nvSpPr>
        <p:spPr>
          <a:xfrm rot="193641">
            <a:off x="1390429" y="3980366"/>
            <a:ext cx="6766560" cy="548640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           		        Control </a:t>
            </a:r>
            <a:r>
              <a:rPr lang="en-US" dirty="0"/>
              <a:t>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7317" y="5655825"/>
            <a:ext cx="2344653" cy="51435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Calling Function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8896353" y="5608589"/>
            <a:ext cx="2344653" cy="51435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Called Function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968538" y="1431146"/>
            <a:ext cx="2661484" cy="5256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801351" y="187381"/>
            <a:ext cx="10195031" cy="108186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hlinkClick r:id="rId4" action="ppaction://hlinkfile"/>
              </a:rPr>
              <a:t>Functions </a:t>
            </a:r>
            <a:r>
              <a:rPr lang="en-US" sz="3200" b="1" dirty="0" smtClean="0">
                <a:hlinkClick r:id="rId4" action="ppaction://hlinkfile"/>
              </a:rPr>
              <a:t>with </a:t>
            </a:r>
            <a:r>
              <a:rPr lang="en-US" sz="3200" b="1" dirty="0">
                <a:hlinkClick r:id="rId4" action="ppaction://hlinkfile"/>
              </a:rPr>
              <a:t>arguments and </a:t>
            </a:r>
            <a:r>
              <a:rPr lang="en-US" sz="3200" b="1" dirty="0" smtClean="0">
                <a:hlinkClick r:id="rId4" action="ppaction://hlinkfile"/>
              </a:rPr>
              <a:t>return </a:t>
            </a:r>
            <a:r>
              <a:rPr lang="en-US" sz="3200" b="1" dirty="0">
                <a:hlinkClick r:id="rId4" action="ppaction://hlinkfile"/>
              </a:rPr>
              <a:t>values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457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5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670</Words>
  <Application>Microsoft Office PowerPoint</Application>
  <PresentationFormat>Widescreen</PresentationFormat>
  <Paragraphs>190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Comic Sans MS</vt:lpstr>
      <vt:lpstr>Wingdings 3</vt:lpstr>
      <vt:lpstr>Office Theme</vt:lpstr>
      <vt:lpstr>What is Function?</vt:lpstr>
      <vt:lpstr>General Form</vt:lpstr>
      <vt:lpstr>Simple example</vt:lpstr>
      <vt:lpstr>Function General Form</vt:lpstr>
      <vt:lpstr>Function General Form</vt:lpstr>
      <vt:lpstr>Function Prototype</vt:lpstr>
      <vt:lpstr>Function Prototype</vt:lpstr>
      <vt:lpstr>Function Prototype</vt:lpstr>
      <vt:lpstr>Function Prototype</vt:lpstr>
      <vt:lpstr>Function of Function Prototype</vt:lpstr>
      <vt:lpstr>Function Prototype</vt:lpstr>
      <vt:lpstr>Argument and Parameter</vt:lpstr>
      <vt:lpstr>Argument and Parameter</vt:lpstr>
      <vt:lpstr>Argument and Parameter</vt:lpstr>
      <vt:lpstr>Argument and Parameter</vt:lpstr>
      <vt:lpstr>Declaration vs Definition</vt:lpstr>
      <vt:lpstr>Function Call</vt:lpstr>
      <vt:lpstr>Function Call</vt:lpstr>
      <vt:lpstr>The function call</vt:lpstr>
      <vt:lpstr>The function call</vt:lpstr>
      <vt:lpstr>Function Call</vt:lpstr>
      <vt:lpstr>Functions with no arguments and no return values</vt:lpstr>
      <vt:lpstr>Functions with no arguments and no return values</vt:lpstr>
      <vt:lpstr>Functions with arguments and no return values</vt:lpstr>
      <vt:lpstr>Functions with arguments and no return values</vt:lpstr>
      <vt:lpstr>PowerPoint Presentation</vt:lpstr>
      <vt:lpstr>PowerPoint Presentation</vt:lpstr>
      <vt:lpstr>Functions with arguments and return values</vt:lpstr>
      <vt:lpstr>Functions with arguments and return values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Function?</dc:title>
  <dc:creator>Nahid siddique</dc:creator>
  <cp:lastModifiedBy>Nahid siddique</cp:lastModifiedBy>
  <cp:revision>1</cp:revision>
  <dcterms:created xsi:type="dcterms:W3CDTF">2021-01-22T04:47:17Z</dcterms:created>
  <dcterms:modified xsi:type="dcterms:W3CDTF">2021-01-22T04:48:45Z</dcterms:modified>
</cp:coreProperties>
</file>