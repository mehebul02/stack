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sldIdLst>
    <p:sldId id="256" r:id="rId2"/>
    <p:sldId id="263" r:id="rId3"/>
    <p:sldId id="264" r:id="rId4"/>
    <p:sldId id="265" r:id="rId5"/>
    <p:sldId id="266" r:id="rId6"/>
    <p:sldId id="268" r:id="rId7"/>
    <p:sldId id="267" r:id="rId8"/>
    <p:sldId id="280" r:id="rId9"/>
    <p:sldId id="282" r:id="rId10"/>
    <p:sldId id="277" r:id="rId11"/>
    <p:sldId id="269" r:id="rId12"/>
    <p:sldId id="270" r:id="rId13"/>
    <p:sldId id="283" r:id="rId14"/>
    <p:sldId id="284" r:id="rId15"/>
    <p:sldId id="271" r:id="rId16"/>
    <p:sldId id="285" r:id="rId17"/>
    <p:sldId id="272" r:id="rId18"/>
    <p:sldId id="286" r:id="rId19"/>
    <p:sldId id="273" r:id="rId20"/>
    <p:sldId id="274" r:id="rId21"/>
    <p:sldId id="287" r:id="rId22"/>
    <p:sldId id="275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34" autoAdjust="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outlineViewPr>
    <p:cViewPr>
      <p:scale>
        <a:sx n="33" d="100"/>
        <a:sy n="33" d="100"/>
      </p:scale>
      <p:origin x="0" y="-25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0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2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6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6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64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10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81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07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0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63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8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5D477-2B5F-4264-9296-EF2B9048ED7D}" type="datetimeFigureOut">
              <a:rPr lang="en-US" smtClean="0"/>
              <a:t>12-Jul-14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26BE1-E01C-4A10-B9C0-7D79EE1D27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string%20-%20input%20from%20KB%20-%20scanf%20-%202/string%20-%20input%20from%20KB%20by%20for%20loop.cbp" TargetMode="External"/><Relationship Id="rId2" Type="http://schemas.openxmlformats.org/officeDocument/2006/relationships/hyperlink" Target="String%20-%20input%20form%20KB%20-%20scanf%20-%201/String%20-%20input%20form%20KB%20-%20scanf.cb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page%20145/page%20145.cb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String%20puts()/page%20-%20146.cb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String%20-%20Initialize/main.c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tring%20-%20strcpy/string%20-%20strcpy.cb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string%20-%20strcpy%20-%201/main.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string%20-%20strcpy%20-%202/main.c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string%20-%20strcat/string%20-%20strcat.cb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string%20-%20strcmp%20-%201/main.c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string%20-%20strcmp%20-%202/main.c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string%20-%20strlen/string%20-%20strlen.cb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string%20-%20strrev/string%20-%20strlen.cb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2574" y="2514600"/>
            <a:ext cx="9512039" cy="2262781"/>
          </a:xfrm>
        </p:spPr>
        <p:txBody>
          <a:bodyPr/>
          <a:lstStyle/>
          <a:p>
            <a:pPr algn="r"/>
            <a:r>
              <a:rPr lang="en-US" b="1" dirty="0" smtClean="0"/>
              <a:t>Exploring </a:t>
            </a:r>
            <a:r>
              <a:rPr lang="en-US" b="1" dirty="0" smtClean="0"/>
              <a:t>Strings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6592" y="2818109"/>
            <a:ext cx="9144000" cy="1655763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415250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 A string is defined as </a:t>
            </a:r>
            <a:r>
              <a:rPr lang="en-US" dirty="0">
                <a:solidFill>
                  <a:srgbClr val="FF0000"/>
                </a:solidFill>
              </a:rPr>
              <a:t>null terminated character array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dirty="0"/>
              <a:t> A string </a:t>
            </a:r>
            <a:r>
              <a:rPr lang="en-US" dirty="0">
                <a:solidFill>
                  <a:srgbClr val="FF0000"/>
                </a:solidFill>
              </a:rPr>
              <a:t>must be terminated by a null</a:t>
            </a:r>
            <a:r>
              <a:rPr lang="en-US" dirty="0"/>
              <a:t> – means that we need one byte extra for holding null character.</a:t>
            </a:r>
          </a:p>
          <a:p>
            <a:pPr>
              <a:spcAft>
                <a:spcPts val="1200"/>
              </a:spcAft>
            </a:pPr>
            <a:r>
              <a:rPr lang="en-US" dirty="0"/>
              <a:t> A string constant is null-terminated by the </a:t>
            </a:r>
            <a:r>
              <a:rPr lang="en-US" dirty="0">
                <a:solidFill>
                  <a:srgbClr val="FF0000"/>
                </a:solidFill>
              </a:rPr>
              <a:t>compiler automatically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dirty="0"/>
              <a:t> Each character takes one byte in string.</a:t>
            </a:r>
          </a:p>
        </p:txBody>
      </p:sp>
    </p:spTree>
    <p:extLst>
      <p:ext uri="{BB962C8B-B14F-4D97-AF65-F5344CB8AC3E}">
        <p14:creationId xmlns:p14="http://schemas.microsoft.com/office/powerpoint/2010/main" val="413334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Strings from Keyboard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</a:t>
            </a:r>
            <a:r>
              <a:rPr lang="en-US" dirty="0"/>
              <a:t>There are several ways-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Using </a:t>
            </a:r>
            <a:r>
              <a:rPr lang="en-US" sz="2800" dirty="0" err="1"/>
              <a:t>scanf</a:t>
            </a:r>
            <a:r>
              <a:rPr lang="en-US" sz="2800" dirty="0"/>
              <a:t>() function-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 for string C use “</a:t>
            </a:r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%s</a:t>
            </a:r>
            <a:r>
              <a:rPr lang="en-US" sz="2800" dirty="0"/>
              <a:t>” format </a:t>
            </a:r>
            <a:r>
              <a:rPr lang="en-US" sz="2800" dirty="0" err="1"/>
              <a:t>specifier</a:t>
            </a:r>
            <a:endParaRPr lang="en-US" sz="2800" dirty="0"/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hlinkClick r:id="rId2" action="ppaction://hlinkfile"/>
              </a:rPr>
              <a:t> String - input form KB - </a:t>
            </a:r>
            <a:r>
              <a:rPr lang="en-US" sz="2800" dirty="0" err="1">
                <a:hlinkClick r:id="rId2" action="ppaction://hlinkfile"/>
              </a:rPr>
              <a:t>scanf</a:t>
            </a:r>
            <a:r>
              <a:rPr lang="en-US" sz="2800" dirty="0">
                <a:hlinkClick r:id="rId2" action="ppaction://hlinkfile"/>
              </a:rPr>
              <a:t> – 1</a:t>
            </a:r>
            <a:endParaRPr lang="en-US" sz="2800" dirty="0"/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 </a:t>
            </a:r>
            <a:r>
              <a:rPr lang="en-US" sz="2800" dirty="0">
                <a:hlinkClick r:id="rId3" action="ppaction://hlinkfile"/>
              </a:rPr>
              <a:t>string - input from KB - </a:t>
            </a:r>
            <a:r>
              <a:rPr lang="en-US" sz="2800" dirty="0" err="1">
                <a:hlinkClick r:id="rId3" action="ppaction://hlinkfile"/>
              </a:rPr>
              <a:t>scanf</a:t>
            </a:r>
            <a:r>
              <a:rPr lang="en-US" sz="2800" dirty="0">
                <a:hlinkClick r:id="rId3" action="ppaction://hlinkfile"/>
              </a:rPr>
              <a:t> – 2</a:t>
            </a:r>
            <a:endParaRPr lang="en-US" sz="2800" dirty="0"/>
          </a:p>
          <a:p>
            <a:pPr lvl="2">
              <a:spcBef>
                <a:spcPts val="1200"/>
              </a:spcBef>
              <a:spcAft>
                <a:spcPts val="1200"/>
              </a:spcAft>
            </a:pPr>
            <a:endParaRPr lang="en-US" sz="2800" dirty="0"/>
          </a:p>
          <a:p>
            <a:pPr marL="228594" lvl="2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 Most common is: gets()</a:t>
            </a:r>
          </a:p>
        </p:txBody>
      </p:sp>
    </p:spTree>
    <p:extLst>
      <p:ext uri="{BB962C8B-B14F-4D97-AF65-F5344CB8AC3E}">
        <p14:creationId xmlns:p14="http://schemas.microsoft.com/office/powerpoint/2010/main" val="409230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963" y="0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964" y="1269243"/>
            <a:ext cx="10195031" cy="5174420"/>
          </a:xfrm>
        </p:spPr>
        <p:txBody>
          <a:bodyPr>
            <a:normAutofit/>
          </a:bodyPr>
          <a:lstStyle/>
          <a:p>
            <a:r>
              <a:rPr lang="en-US" sz="3200" dirty="0"/>
              <a:t> C’s standard library function</a:t>
            </a:r>
          </a:p>
          <a:p>
            <a:r>
              <a:rPr lang="en-US" sz="3200" dirty="0"/>
              <a:t> uses the STDIO.H header file</a:t>
            </a:r>
          </a:p>
          <a:p>
            <a:r>
              <a:rPr lang="en-US" sz="3200" dirty="0"/>
              <a:t> To use – call it using the name of a character array </a:t>
            </a:r>
            <a:r>
              <a:rPr lang="en-US" sz="3200" dirty="0">
                <a:solidFill>
                  <a:srgbClr val="FF0000"/>
                </a:solidFill>
              </a:rPr>
              <a:t>without any index.   </a:t>
            </a:r>
          </a:p>
          <a:p>
            <a:pPr marL="914377" lvl="2" indent="0">
              <a:buNone/>
            </a:pPr>
            <a:endParaRPr lang="en-US" sz="2800" dirty="0" smtClean="0"/>
          </a:p>
          <a:p>
            <a:pPr marL="914377" lvl="2" indent="0">
              <a:buNone/>
            </a:pPr>
            <a:endParaRPr lang="en-US" sz="2800" dirty="0" smtClean="0"/>
          </a:p>
          <a:p>
            <a:pPr marL="914377" lvl="2" indent="0">
              <a:buNone/>
            </a:pPr>
            <a:endParaRPr lang="en-US" sz="2800" dirty="0" smtClean="0"/>
          </a:p>
          <a:p>
            <a:r>
              <a:rPr lang="en-US" sz="3200" dirty="0" smtClean="0">
                <a:solidFill>
                  <a:srgbClr val="FF0000"/>
                </a:solidFill>
              </a:rPr>
              <a:t> </a:t>
            </a:r>
            <a:r>
              <a:rPr lang="en-US" sz="3200" dirty="0" smtClean="0"/>
              <a:t>get() function reads character until we press ENTER</a:t>
            </a:r>
          </a:p>
          <a:p>
            <a:pPr lvl="1"/>
            <a:r>
              <a:rPr lang="en-US" sz="3000" dirty="0" smtClean="0">
                <a:solidFill>
                  <a:srgbClr val="FF0000"/>
                </a:solidFill>
              </a:rPr>
              <a:t> </a:t>
            </a:r>
            <a:r>
              <a:rPr lang="en-US" sz="3000" dirty="0"/>
              <a:t>The ENTER key (carriage return - \r) is not stored, but is replaced by a null, which terminates the string.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57637" y="3429000"/>
            <a:ext cx="4629150" cy="11144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914377" lvl="2" indent="0">
              <a:buNone/>
            </a:pPr>
            <a:r>
              <a:rPr lang="en-US" sz="2800" dirty="0"/>
              <a:t>char </a:t>
            </a:r>
            <a:r>
              <a:rPr lang="en-US" sz="2800" dirty="0" err="1"/>
              <a:t>str</a:t>
            </a:r>
            <a:r>
              <a:rPr lang="en-US" sz="2800" dirty="0"/>
              <a:t>[100];</a:t>
            </a:r>
          </a:p>
          <a:p>
            <a:pPr marL="914377" lvl="2" indent="0">
              <a:buNone/>
            </a:pPr>
            <a:r>
              <a:rPr lang="en-US" sz="2800" dirty="0"/>
              <a:t>gets(</a:t>
            </a:r>
            <a:r>
              <a:rPr lang="en-US" sz="2800" dirty="0" err="1"/>
              <a:t>str</a:t>
            </a:r>
            <a:r>
              <a:rPr lang="en-US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979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gets()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3200" dirty="0">
                <a:hlinkClick r:id="rId2" action="ppaction://hlinkfile"/>
              </a:rPr>
              <a:t>page 145</a:t>
            </a:r>
            <a:endParaRPr lang="en-US" sz="3200" dirty="0"/>
          </a:p>
          <a:p>
            <a:pPr marL="0" indent="0" algn="r">
              <a:buNone/>
            </a:pPr>
            <a:endParaRPr lang="en-US" sz="3200" dirty="0"/>
          </a:p>
          <a:p>
            <a:pPr marL="0" indent="0" algn="r">
              <a:buNone/>
            </a:pPr>
            <a:r>
              <a:rPr lang="en-US" sz="3200" dirty="0"/>
              <a:t>Here null is false </a:t>
            </a:r>
          </a:p>
          <a:p>
            <a:pPr marL="0" indent="0" algn="r">
              <a:buNone/>
            </a:pPr>
            <a:r>
              <a:rPr lang="en-US" sz="3200" dirty="0"/>
              <a:t>to control the loop</a:t>
            </a:r>
          </a:p>
          <a:p>
            <a:pPr marL="0" indent="0" algn="r">
              <a:buNone/>
            </a:pPr>
            <a:r>
              <a:rPr lang="en-US" sz="3200" dirty="0"/>
              <a:t>that output the string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7862" t="14063" r="36567" b="10937"/>
          <a:stretch/>
        </p:blipFill>
        <p:spPr>
          <a:xfrm>
            <a:off x="1357307" y="1252618"/>
            <a:ext cx="6057900" cy="56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74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algn="r"/>
            <a:endParaRPr lang="en-US" sz="3200" dirty="0"/>
          </a:p>
          <a:p>
            <a:pPr marL="0" indent="0" algn="r">
              <a:buNone/>
            </a:pP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862" t="16601" r="10432" b="10156"/>
          <a:stretch/>
        </p:blipFill>
        <p:spPr>
          <a:xfrm>
            <a:off x="642937" y="1370535"/>
            <a:ext cx="9329739" cy="53578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26464" b="69726"/>
          <a:stretch/>
        </p:blipFill>
        <p:spPr>
          <a:xfrm>
            <a:off x="5120813" y="1803851"/>
            <a:ext cx="5623387" cy="1301580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252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4140" y="173095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gets() - Be aware!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2" y="1651381"/>
            <a:ext cx="10467619" cy="463511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The get() function performs no bounds checking.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It is possible to </a:t>
            </a:r>
            <a:r>
              <a:rPr lang="en-US" sz="3200" dirty="0">
                <a:solidFill>
                  <a:srgbClr val="FF0000"/>
                </a:solidFill>
              </a:rPr>
              <a:t>enter more characters </a:t>
            </a:r>
            <a:r>
              <a:rPr lang="en-US" sz="3200" dirty="0"/>
              <a:t>than the array receiving them</a:t>
            </a:r>
            <a:r>
              <a:rPr lang="en-US" sz="3200" dirty="0">
                <a:solidFill>
                  <a:srgbClr val="FF0000"/>
                </a:solidFill>
              </a:rPr>
              <a:t> can </a:t>
            </a:r>
            <a:r>
              <a:rPr lang="en-US" sz="3200" dirty="0" smtClean="0">
                <a:solidFill>
                  <a:srgbClr val="FF0000"/>
                </a:solidFill>
              </a:rPr>
              <a:t>hold </a:t>
            </a:r>
            <a:r>
              <a:rPr lang="en-US" sz="3200" dirty="0"/>
              <a:t>– </a:t>
            </a:r>
            <a:r>
              <a:rPr lang="en-US" sz="3200" b="1" dirty="0">
                <a:solidFill>
                  <a:srgbClr val="FF0000"/>
                </a:solidFill>
              </a:rPr>
              <a:t>unwanted result!</a:t>
            </a:r>
          </a:p>
          <a:p>
            <a:pPr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For example, if we </a:t>
            </a:r>
            <a:r>
              <a:rPr lang="en-US" sz="3200" dirty="0" smtClean="0"/>
              <a:t>call </a:t>
            </a:r>
            <a:r>
              <a:rPr lang="en-US" sz="3200" dirty="0"/>
              <a:t>gets() with an array that is 20 characters long, there is no mechanism to stop us from entering more than 20 character.</a:t>
            </a:r>
          </a:p>
        </p:txBody>
      </p:sp>
    </p:spTree>
    <p:extLst>
      <p:ext uri="{BB962C8B-B14F-4D97-AF65-F5344CB8AC3E}">
        <p14:creationId xmlns:p14="http://schemas.microsoft.com/office/powerpoint/2010/main" val="2686826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puts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2"/>
            <a:ext cx="10195031" cy="4563682"/>
          </a:xfrm>
        </p:spPr>
        <p:txBody>
          <a:bodyPr>
            <a:normAutofit/>
          </a:bodyPr>
          <a:lstStyle/>
          <a:p>
            <a:r>
              <a:rPr lang="en-US" sz="3200" dirty="0"/>
              <a:t> C’s standard library function</a:t>
            </a:r>
          </a:p>
          <a:p>
            <a:r>
              <a:rPr lang="en-US" sz="3200" dirty="0"/>
              <a:t> uses the STDIO.H header file</a:t>
            </a:r>
          </a:p>
          <a:p>
            <a:r>
              <a:rPr lang="en-US" sz="3200" dirty="0"/>
              <a:t> To use – call it using the name of a character array </a:t>
            </a:r>
            <a:r>
              <a:rPr lang="en-US" sz="3200" dirty="0">
                <a:solidFill>
                  <a:srgbClr val="FF0000"/>
                </a:solidFill>
              </a:rPr>
              <a:t>without any index.   </a:t>
            </a:r>
          </a:p>
          <a:p>
            <a:pPr marL="914377" lvl="2" indent="0">
              <a:buNone/>
            </a:pPr>
            <a:endParaRPr lang="en-US" sz="2800" dirty="0" smtClean="0"/>
          </a:p>
          <a:p>
            <a:pPr marL="914377" lvl="2" indent="0">
              <a:buNone/>
            </a:pPr>
            <a:endParaRPr lang="en-US" sz="2800" dirty="0" smtClean="0"/>
          </a:p>
          <a:p>
            <a:endParaRPr lang="en-US" sz="3000" dirty="0" smtClean="0"/>
          </a:p>
        </p:txBody>
      </p:sp>
      <p:sp>
        <p:nvSpPr>
          <p:cNvPr id="4" name="Rounded Rectangle 3"/>
          <p:cNvSpPr/>
          <p:nvPr/>
        </p:nvSpPr>
        <p:spPr>
          <a:xfrm>
            <a:off x="4557712" y="3876073"/>
            <a:ext cx="5500688" cy="11144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914377" lvl="2" indent="0">
              <a:buNone/>
            </a:pPr>
            <a:r>
              <a:rPr lang="en-US" sz="2800" dirty="0"/>
              <a:t>char </a:t>
            </a:r>
            <a:r>
              <a:rPr lang="en-US" sz="2800" dirty="0" err="1"/>
              <a:t>str</a:t>
            </a:r>
            <a:r>
              <a:rPr lang="en-US" sz="2800" dirty="0"/>
              <a:t>[100</a:t>
            </a:r>
            <a:r>
              <a:rPr lang="en-US" sz="2800" dirty="0" smtClean="0"/>
              <a:t>] = “This is it”;</a:t>
            </a:r>
            <a:endParaRPr lang="en-US" sz="2800" dirty="0"/>
          </a:p>
          <a:p>
            <a:pPr marL="914377" lvl="2" indent="0">
              <a:buNone/>
            </a:pPr>
            <a:r>
              <a:rPr lang="en-US" sz="2800" dirty="0" smtClean="0"/>
              <a:t>puts(</a:t>
            </a:r>
            <a:r>
              <a:rPr lang="en-US" sz="2800" dirty="0" err="1" smtClean="0"/>
              <a:t>str</a:t>
            </a:r>
            <a:r>
              <a:rPr lang="en-US" sz="28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8737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puts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87966" y="4951795"/>
            <a:ext cx="2141997" cy="66319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000" dirty="0" smtClean="0">
                <a:hlinkClick r:id="rId2" action="ppaction://hlinkfile"/>
              </a:rPr>
              <a:t>Example</a:t>
            </a:r>
            <a:endParaRPr lang="en-US" sz="3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1" y="1400174"/>
            <a:ext cx="6881813" cy="52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19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 smtClean="0"/>
              <a:t>Initialize String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0650" y="5497511"/>
            <a:ext cx="2919413" cy="56038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hlinkClick r:id="rId2" action="ppaction://hlinkfile"/>
              </a:rPr>
              <a:t>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90689"/>
            <a:ext cx="8777388" cy="475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58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228" y="101657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STRING.H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4178" y="1437068"/>
            <a:ext cx="10195031" cy="5076967"/>
          </a:xfrm>
        </p:spPr>
        <p:txBody>
          <a:bodyPr>
            <a:normAutofit/>
          </a:bodyPr>
          <a:lstStyle/>
          <a:p>
            <a:r>
              <a:rPr lang="en-US" sz="3200" dirty="0"/>
              <a:t> The four most string related library functions are</a:t>
            </a:r>
          </a:p>
          <a:p>
            <a:pPr marL="1428715" lvl="2" indent="-514338">
              <a:lnSpc>
                <a:spcPct val="200000"/>
              </a:lnSpc>
              <a:buFont typeface="+mj-lt"/>
              <a:buAutoNum type="arabicPeriod"/>
            </a:pPr>
            <a:r>
              <a:rPr lang="en-US" sz="2800" dirty="0" err="1"/>
              <a:t>strcpy</a:t>
            </a:r>
            <a:r>
              <a:rPr lang="en-US" sz="2800" dirty="0"/>
              <a:t>() – for copy</a:t>
            </a:r>
          </a:p>
          <a:p>
            <a:pPr marL="1428715" lvl="2" indent="-514338">
              <a:lnSpc>
                <a:spcPct val="200000"/>
              </a:lnSpc>
              <a:buFont typeface="+mj-lt"/>
              <a:buAutoNum type="arabicPeriod"/>
            </a:pPr>
            <a:r>
              <a:rPr lang="en-US" sz="2800" dirty="0" err="1"/>
              <a:t>strcat</a:t>
            </a:r>
            <a:r>
              <a:rPr lang="en-US" sz="2800" dirty="0"/>
              <a:t>() – for concatenation</a:t>
            </a:r>
          </a:p>
          <a:p>
            <a:pPr marL="1428715" lvl="2" indent="-514338">
              <a:lnSpc>
                <a:spcPct val="200000"/>
              </a:lnSpc>
              <a:buFont typeface="+mj-lt"/>
              <a:buAutoNum type="arabicPeriod"/>
            </a:pPr>
            <a:r>
              <a:rPr lang="en-US" sz="2800" dirty="0" err="1"/>
              <a:t>strcmp</a:t>
            </a:r>
            <a:r>
              <a:rPr lang="en-US" sz="2800" dirty="0"/>
              <a:t>() – for compare two strings</a:t>
            </a:r>
          </a:p>
          <a:p>
            <a:pPr marL="1428715" lvl="2" indent="-514338">
              <a:lnSpc>
                <a:spcPct val="200000"/>
              </a:lnSpc>
              <a:buFont typeface="+mj-lt"/>
              <a:buAutoNum type="arabicPeriod"/>
            </a:pPr>
            <a:r>
              <a:rPr lang="en-US" sz="2800" dirty="0" err="1"/>
              <a:t>strlen</a:t>
            </a:r>
            <a:r>
              <a:rPr lang="en-US" sz="2800" dirty="0"/>
              <a:t>() – for finding length of a </a:t>
            </a:r>
            <a:r>
              <a:rPr lang="en-US" sz="2800" dirty="0" smtClean="0"/>
              <a:t>string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672435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578670"/>
            <a:ext cx="10195031" cy="5076967"/>
          </a:xfrm>
        </p:spPr>
        <p:txBody>
          <a:bodyPr>
            <a:normAutofit/>
          </a:bodyPr>
          <a:lstStyle/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It </a:t>
            </a:r>
            <a:r>
              <a:rPr lang="en-US" sz="3200" dirty="0"/>
              <a:t>copies the contents of </a:t>
            </a:r>
            <a:r>
              <a:rPr lang="en-US" sz="3200" i="1" dirty="0">
                <a:solidFill>
                  <a:srgbClr val="FF0000"/>
                </a:solidFill>
              </a:rPr>
              <a:t>from</a:t>
            </a:r>
            <a:r>
              <a:rPr lang="en-US" sz="3200" dirty="0"/>
              <a:t> to </a:t>
            </a:r>
            <a:r>
              <a:rPr lang="en-US" sz="3200" i="1" dirty="0" err="1">
                <a:solidFill>
                  <a:srgbClr val="FF0000"/>
                </a:solidFill>
              </a:rPr>
              <a:t>to</a:t>
            </a:r>
            <a:r>
              <a:rPr lang="en-US" sz="3200" dirty="0"/>
              <a:t>.</a:t>
            </a:r>
          </a:p>
          <a:p>
            <a:endParaRPr lang="en-US" sz="3200" dirty="0" smtClean="0">
              <a:hlinkClick r:id="rId2" action="ppaction://hlinkfile"/>
            </a:endParaRP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357438" y="1642865"/>
            <a:ext cx="2957513" cy="703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strcpy</a:t>
            </a:r>
            <a:r>
              <a:rPr lang="en-US" sz="2800" dirty="0"/>
              <a:t> (to, from);</a:t>
            </a:r>
          </a:p>
        </p:txBody>
      </p:sp>
    </p:spTree>
    <p:extLst>
      <p:ext uri="{BB962C8B-B14F-4D97-AF65-F5344CB8AC3E}">
        <p14:creationId xmlns:p14="http://schemas.microsoft.com/office/powerpoint/2010/main" val="31962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9185735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51" y="1457325"/>
            <a:ext cx="2671762" cy="5857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 smtClean="0">
                <a:hlinkClick r:id="rId2" action="ppaction://hlinkfile"/>
              </a:rPr>
              <a:t>String – </a:t>
            </a:r>
            <a:r>
              <a:rPr lang="en-US" sz="3200" dirty="0" err="1" smtClean="0">
                <a:hlinkClick r:id="rId2" action="ppaction://hlinkfile"/>
              </a:rPr>
              <a:t>strcpy</a:t>
            </a:r>
            <a:r>
              <a:rPr lang="en-US" sz="3200" dirty="0" smtClean="0">
                <a:hlinkClick r:id="rId2" action="ppaction://hlinkfile"/>
              </a:rPr>
              <a:t> 1 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2" y="1269243"/>
            <a:ext cx="6639526" cy="49886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401" y="5229225"/>
            <a:ext cx="40100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39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9185735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strcpy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51" y="1457325"/>
            <a:ext cx="2671762" cy="5857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 smtClean="0">
                <a:hlinkClick r:id="rId2" action="ppaction://hlinkfile"/>
              </a:rPr>
              <a:t>String – </a:t>
            </a:r>
            <a:r>
              <a:rPr lang="en-US" sz="3200" dirty="0" err="1" smtClean="0">
                <a:hlinkClick r:id="rId2" action="ppaction://hlinkfile"/>
              </a:rPr>
              <a:t>strcpy</a:t>
            </a:r>
            <a:r>
              <a:rPr lang="en-US" sz="3200" dirty="0" smtClean="0">
                <a:hlinkClick r:id="rId2" action="ppaction://hlinkfile"/>
              </a:rPr>
              <a:t> 2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6340" t="39246" r="35755" b="14033"/>
          <a:stretch/>
        </p:blipFill>
        <p:spPr>
          <a:xfrm>
            <a:off x="624907" y="1750219"/>
            <a:ext cx="6518234" cy="451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2716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strcat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4" y="2743200"/>
            <a:ext cx="9666394" cy="2614614"/>
          </a:xfrm>
        </p:spPr>
        <p:txBody>
          <a:bodyPr>
            <a:normAutofit/>
          </a:bodyPr>
          <a:lstStyle/>
          <a:p>
            <a:endParaRPr lang="en-US" sz="3200" dirty="0" smtClean="0"/>
          </a:p>
          <a:p>
            <a:r>
              <a:rPr lang="en-US" sz="3200" dirty="0" smtClean="0"/>
              <a:t>adds </a:t>
            </a:r>
            <a:r>
              <a:rPr lang="en-US" sz="3200" dirty="0"/>
              <a:t>the contents of one string </a:t>
            </a:r>
            <a:r>
              <a:rPr lang="en-US" sz="3200" i="1" dirty="0"/>
              <a:t>(from) </a:t>
            </a:r>
            <a:r>
              <a:rPr lang="en-US" sz="3200" dirty="0"/>
              <a:t>to another </a:t>
            </a:r>
            <a:r>
              <a:rPr lang="en-US" sz="3200" i="1" dirty="0"/>
              <a:t>(to)</a:t>
            </a:r>
            <a:r>
              <a:rPr lang="en-US" sz="3200" dirty="0"/>
              <a:t>.</a:t>
            </a:r>
          </a:p>
          <a:p>
            <a:endParaRPr lang="en-US" sz="3200" dirty="0" smtClean="0"/>
          </a:p>
          <a:p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185989" y="2040177"/>
            <a:ext cx="2957513" cy="703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dirty="0" err="1"/>
              <a:t>strcat</a:t>
            </a:r>
            <a:r>
              <a:rPr lang="en-US" sz="3200" dirty="0"/>
              <a:t> (to, from);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590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391" y="230244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strcat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44050" y="1070959"/>
            <a:ext cx="2295171" cy="7346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 err="1" smtClean="0">
                <a:hlinkClick r:id="rId2" action="ppaction://hlinkfile"/>
              </a:rPr>
              <a:t>strcat</a:t>
            </a:r>
            <a:r>
              <a:rPr lang="en-US" sz="3200" b="1" dirty="0">
                <a:hlinkClick r:id="rId2" action="ppaction://hlinkfile"/>
              </a:rPr>
              <a:t>()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438275"/>
            <a:ext cx="7813854" cy="4962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312" y="5267325"/>
            <a:ext cx="41814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2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263" y="1651381"/>
            <a:ext cx="11039121" cy="5076967"/>
          </a:xfrm>
        </p:spPr>
        <p:txBody>
          <a:bodyPr>
            <a:normAutofit/>
          </a:bodyPr>
          <a:lstStyle/>
          <a:p>
            <a:endParaRPr lang="en-US" sz="3200" dirty="0" smtClean="0"/>
          </a:p>
          <a:p>
            <a:endParaRPr lang="en-US" sz="3200" dirty="0" smtClean="0"/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 smtClean="0"/>
              <a:t>It </a:t>
            </a:r>
            <a:r>
              <a:rPr lang="en-US" sz="3200" dirty="0"/>
              <a:t>returns </a:t>
            </a:r>
            <a:r>
              <a:rPr lang="en-US" sz="3200" dirty="0">
                <a:solidFill>
                  <a:srgbClr val="FF0000"/>
                </a:solidFill>
              </a:rPr>
              <a:t>zero</a:t>
            </a:r>
            <a:r>
              <a:rPr lang="en-US" sz="3200" dirty="0"/>
              <a:t> – if s1 and s2 </a:t>
            </a:r>
            <a:r>
              <a:rPr lang="en-US" sz="3200" dirty="0" smtClean="0"/>
              <a:t>same  </a:t>
            </a:r>
            <a:r>
              <a:rPr lang="en-US" sz="3200" dirty="0" smtClean="0">
                <a:solidFill>
                  <a:srgbClr val="FF0000"/>
                </a:solidFill>
              </a:rPr>
              <a:t>(s1 = s2)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It returns </a:t>
            </a:r>
            <a:r>
              <a:rPr lang="en-US" sz="3200" dirty="0">
                <a:solidFill>
                  <a:srgbClr val="FF0000"/>
                </a:solidFill>
              </a:rPr>
              <a:t>less than zero </a:t>
            </a:r>
            <a:r>
              <a:rPr lang="en-US" sz="3200" dirty="0"/>
              <a:t>– if s1 less than </a:t>
            </a:r>
            <a:r>
              <a:rPr lang="en-US" sz="3200" dirty="0" smtClean="0"/>
              <a:t>s2  </a:t>
            </a:r>
            <a:r>
              <a:rPr lang="en-US" sz="3200" dirty="0" smtClean="0">
                <a:solidFill>
                  <a:srgbClr val="FF0000"/>
                </a:solidFill>
              </a:rPr>
              <a:t>(s1 &lt; s2)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dirty="0"/>
              <a:t> It returns </a:t>
            </a:r>
            <a:r>
              <a:rPr lang="en-US" sz="3200" dirty="0">
                <a:solidFill>
                  <a:srgbClr val="FF0000"/>
                </a:solidFill>
              </a:rPr>
              <a:t>greater than zero</a:t>
            </a:r>
            <a:r>
              <a:rPr lang="en-US" sz="3200" dirty="0"/>
              <a:t> – if s1 greater than </a:t>
            </a:r>
            <a:r>
              <a:rPr lang="en-US" sz="3200" dirty="0" smtClean="0"/>
              <a:t>s2   </a:t>
            </a:r>
            <a:r>
              <a:rPr lang="en-US" sz="3200" dirty="0" smtClean="0">
                <a:solidFill>
                  <a:srgbClr val="FF0000"/>
                </a:solidFill>
              </a:rPr>
              <a:t>(s1 &gt; s2)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1585913" y="1485606"/>
            <a:ext cx="2957513" cy="703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strcmp</a:t>
            </a:r>
            <a:r>
              <a:rPr lang="en-US" sz="3200" dirty="0" smtClean="0"/>
              <a:t>(s1,s2);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5151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strcmp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8067" y="1751395"/>
            <a:ext cx="1913396" cy="791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>
                <a:hlinkClick r:id="rId2" action="ppaction://hlinkfile"/>
              </a:rPr>
              <a:t>Example 1</a:t>
            </a:r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1269243"/>
            <a:ext cx="8655481" cy="411714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9788067" y="3532570"/>
            <a:ext cx="1913396" cy="791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dirty="0" smtClean="0">
                <a:hlinkClick r:id="rId4" action="ppaction://hlinkfile"/>
              </a:rPr>
              <a:t>Example 2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3976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0490" t="26367" r="11750" b="22461"/>
          <a:stretch/>
        </p:blipFill>
        <p:spPr>
          <a:xfrm>
            <a:off x="1" y="0"/>
            <a:ext cx="12162044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53807" b="56836"/>
          <a:stretch/>
        </p:blipFill>
        <p:spPr>
          <a:xfrm>
            <a:off x="7397677" y="0"/>
            <a:ext cx="4681537" cy="1941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829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540" y="201670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strlen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8999997" cy="3735007"/>
          </a:xfrm>
        </p:spPr>
        <p:txBody>
          <a:bodyPr>
            <a:normAutofit/>
          </a:bodyPr>
          <a:lstStyle/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returns </a:t>
            </a:r>
            <a:r>
              <a:rPr lang="en-US" sz="3200" dirty="0"/>
              <a:t>the length, in characters of a string.</a:t>
            </a:r>
          </a:p>
          <a:p>
            <a:r>
              <a:rPr lang="en-US" sz="3200" dirty="0"/>
              <a:t> It does not count the null terminator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2357438" y="1642865"/>
            <a:ext cx="2957513" cy="703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strlen</a:t>
            </a:r>
            <a:r>
              <a:rPr lang="en-US" sz="3200" dirty="0" smtClean="0"/>
              <a:t> (</a:t>
            </a:r>
            <a:r>
              <a:rPr lang="en-US" sz="3200" dirty="0" err="1" smtClean="0"/>
              <a:t>str</a:t>
            </a:r>
            <a:r>
              <a:rPr lang="en-US" sz="3200" dirty="0" smtClean="0"/>
              <a:t>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8489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strlen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6592" y="1440693"/>
            <a:ext cx="2399172" cy="70605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>
                <a:hlinkClick r:id="rId2" action="ppaction://hlinkfile"/>
              </a:rPr>
              <a:t>Example</a:t>
            </a:r>
            <a:endParaRPr lang="en-US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67" y="1440693"/>
            <a:ext cx="8410807" cy="4774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8314" y="4781550"/>
            <a:ext cx="24574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6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839" t="15429" r="5710" b="15821"/>
          <a:stretch/>
        </p:blipFill>
        <p:spPr>
          <a:xfrm>
            <a:off x="71435" y="-14288"/>
            <a:ext cx="12026096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40959" b="76562"/>
          <a:stretch/>
        </p:blipFill>
        <p:spPr>
          <a:xfrm>
            <a:off x="4248152" y="419101"/>
            <a:ext cx="7681913" cy="1714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9723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353" y="187382"/>
            <a:ext cx="10195031" cy="1081861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strrev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353" y="1651381"/>
            <a:ext cx="10195031" cy="5076967"/>
          </a:xfrm>
        </p:spPr>
        <p:txBody>
          <a:bodyPr>
            <a:normAutofit/>
          </a:bodyPr>
          <a:lstStyle/>
          <a:p>
            <a:endParaRPr lang="en-US" sz="3200" dirty="0" smtClean="0"/>
          </a:p>
          <a:p>
            <a:endParaRPr lang="en-US" sz="3200" dirty="0"/>
          </a:p>
          <a:p>
            <a:r>
              <a:rPr lang="en-US" sz="3200" dirty="0" smtClean="0"/>
              <a:t>returns the string in revers order.</a:t>
            </a:r>
            <a:endParaRPr lang="en-US" sz="3200" dirty="0"/>
          </a:p>
          <a:p>
            <a:r>
              <a:rPr lang="en-US" sz="3200" dirty="0"/>
              <a:t> It does not count the null terminator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 smtClean="0">
                <a:hlinkClick r:id="rId2" action="ppaction://hlinkfile"/>
              </a:rPr>
              <a:t>Example</a:t>
            </a:r>
            <a:endParaRPr lang="en-US" sz="3200" dirty="0"/>
          </a:p>
        </p:txBody>
      </p:sp>
      <p:sp>
        <p:nvSpPr>
          <p:cNvPr id="4" name="Rounded Rectangle 3"/>
          <p:cNvSpPr/>
          <p:nvPr/>
        </p:nvSpPr>
        <p:spPr>
          <a:xfrm>
            <a:off x="3014663" y="1651381"/>
            <a:ext cx="2957513" cy="70302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 err="1" smtClean="0"/>
              <a:t>strrev</a:t>
            </a:r>
            <a:r>
              <a:rPr lang="en-US" sz="3200" dirty="0" smtClean="0"/>
              <a:t> (</a:t>
            </a:r>
            <a:r>
              <a:rPr lang="en-US" sz="3200" dirty="0" err="1" smtClean="0"/>
              <a:t>str</a:t>
            </a:r>
            <a:r>
              <a:rPr lang="en-US" sz="3200" dirty="0" smtClean="0"/>
              <a:t>);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442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1019</TotalTime>
  <Words>509</Words>
  <Application>Microsoft Office PowerPoint</Application>
  <PresentationFormat>Widescreen</PresentationFormat>
  <Paragraphs>101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Aharoni</vt:lpstr>
      <vt:lpstr>Arial</vt:lpstr>
      <vt:lpstr>Calibri</vt:lpstr>
      <vt:lpstr>Calibri Light</vt:lpstr>
      <vt:lpstr>Office Theme</vt:lpstr>
      <vt:lpstr>Exploring Strings</vt:lpstr>
      <vt:lpstr>Strings</vt:lpstr>
      <vt:lpstr>Read Strings from Keyboard</vt:lpstr>
      <vt:lpstr>gets()</vt:lpstr>
      <vt:lpstr>gets() …</vt:lpstr>
      <vt:lpstr>PowerPoint Presentation</vt:lpstr>
      <vt:lpstr>gets() - Be aware!</vt:lpstr>
      <vt:lpstr>puts()</vt:lpstr>
      <vt:lpstr>puts()</vt:lpstr>
      <vt:lpstr>Initialize String</vt:lpstr>
      <vt:lpstr>STRING.H</vt:lpstr>
      <vt:lpstr>strcpy()</vt:lpstr>
      <vt:lpstr>strcpy()</vt:lpstr>
      <vt:lpstr>strcpy()</vt:lpstr>
      <vt:lpstr>strcat()</vt:lpstr>
      <vt:lpstr>strcat()</vt:lpstr>
      <vt:lpstr>strcmp()</vt:lpstr>
      <vt:lpstr>strcmp()</vt:lpstr>
      <vt:lpstr>PowerPoint Presentation</vt:lpstr>
      <vt:lpstr>strlen()</vt:lpstr>
      <vt:lpstr>strlen()</vt:lpstr>
      <vt:lpstr>PowerPoint Presentation</vt:lpstr>
      <vt:lpstr>strrev()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Exploring Array and Strings</dc:title>
  <dc:creator>T-T</dc:creator>
  <cp:lastModifiedBy>T-T</cp:lastModifiedBy>
  <cp:revision>59</cp:revision>
  <dcterms:created xsi:type="dcterms:W3CDTF">2013-07-19T15:31:12Z</dcterms:created>
  <dcterms:modified xsi:type="dcterms:W3CDTF">2014-07-11T20:33:07Z</dcterms:modified>
</cp:coreProperties>
</file>